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500000">
            <a:off x="7315200" y="-2743200"/>
            <a:ext cx="10972800" cy="7315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6B3EFF">
                  <a:alpha val="18000"/>
                </a:srgbClr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700000">
            <a:off x="-1828800" y="3657600"/>
            <a:ext cx="8229600" cy="54864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6B3EFF">
                  <a:alpha val="12000"/>
                </a:srgbClr>
              </a:gs>
              <a:gs pos="100000">
                <a:srgbClr val="FF4EA8">
                  <a:alpha val="12000"/>
                </a:srgbClr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FRONTEND BUILD · CSE 325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0" b="1" lang="en-US">
                <a:solidFill>
                  <a:srgbClr val="EAF1FF"/>
                </a:solidFill>
                <a:latin typeface="Calibri"/>
              </a:rPr>
              <a:t>Notespack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9AA3C4"/>
                </a:solidFill>
                <a:latin typeface="Calibri"/>
              </a:rPr>
              <a:t>A campus events platform, built for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4389120" cy="50292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2499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50">
                <a:solidFill>
                  <a:srgbClr val="6E769A"/>
                </a:solidFill>
                <a:latin typeface="Calibri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25907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Marco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523" y="5532120"/>
            <a:ext cx="7315" cy="777240"/>
          </a:xfrm>
          <a:prstGeom prst="rect">
            <a:avLst/>
          </a:prstGeom>
          <a:ln>
            <a:noFill/>
          </a:ln>
          <a:effectLst/>
          <a:solidFill>
            <a:srgbClr val="00D4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243" y="5486400"/>
            <a:ext cx="2499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50">
                <a:solidFill>
                  <a:srgbClr val="6E769A"/>
                </a:solidFill>
                <a:latin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243" y="5806440"/>
            <a:ext cx="25907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The Syntax Errors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0127" y="5532120"/>
            <a:ext cx="7315" cy="777240"/>
          </a:xfrm>
          <a:prstGeom prst="rect">
            <a:avLst/>
          </a:prstGeom>
          <a:ln>
            <a:noFill/>
          </a:ln>
          <a:effectLst/>
          <a:solidFill>
            <a:srgbClr val="00D4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5847" y="5486400"/>
            <a:ext cx="2499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50">
                <a:solidFill>
                  <a:srgbClr val="6E769A"/>
                </a:solidFill>
                <a:latin typeface="Calibri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5806440"/>
            <a:ext cx="25907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CSE 325 · BYU-Idaho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731" y="5532120"/>
            <a:ext cx="7315" cy="777240"/>
          </a:xfrm>
          <a:prstGeom prst="rect">
            <a:avLst/>
          </a:prstGeom>
          <a:ln>
            <a:noFill/>
          </a:ln>
          <a:effectLst/>
          <a:solidFill>
            <a:srgbClr val="00D4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5486400"/>
            <a:ext cx="24992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50">
                <a:solidFill>
                  <a:srgbClr val="6E769A"/>
                </a:solidFill>
                <a:latin typeface="Calibri"/>
              </a:rPr>
              <a:t>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5806440"/>
            <a:ext cx="25907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marco/frontend-design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200000">
            <a:off x="8686800" y="-2286000"/>
            <a:ext cx="6400800" cy="54864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>
                  <a:alpha val="9000"/>
                </a:srgbClr>
              </a:gs>
              <a:gs pos="100000">
                <a:srgbClr val="6B3EFF">
                  <a:alpha val="9000"/>
                </a:srgbClr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What is Notespack?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6400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lang="en-US">
                <a:solidFill>
                  <a:srgbClr val="9AA3C4"/>
                </a:solidFill>
                <a:latin typeface="Calibri"/>
              </a:rPr>
              <a:t>Notespack helps students discover, share, and attend events around campus. Browse what's happening, filter by what you care about, and create your own events to invite friends. Built as a group project for CSE 325.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240280"/>
            <a:ext cx="4114800" cy="329184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00">
                <a:solidFill>
                  <a:srgbClr val="00D4FF"/>
                </a:solidFill>
                <a:latin typeface="Calibri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1635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Campus 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310127"/>
            <a:ext cx="3566160" cy="7315"/>
          </a:xfrm>
          <a:prstGeom prst="rect">
            <a:avLst/>
          </a:prstGeom>
          <a:ln>
            <a:noFill/>
          </a:ln>
          <a:effectLst/>
          <a:solidFill>
            <a:srgbClr val="2525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5204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00">
                <a:solidFill>
                  <a:srgbClr val="00D4FF"/>
                </a:solidFill>
                <a:latin typeface="Calibri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764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Events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270248"/>
            <a:ext cx="3566160" cy="7315"/>
          </a:xfrm>
          <a:prstGeom prst="rect">
            <a:avLst/>
          </a:prstGeom>
          <a:ln>
            <a:noFill/>
          </a:ln>
          <a:effectLst/>
          <a:solidFill>
            <a:srgbClr val="2525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4805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00">
                <a:solidFill>
                  <a:srgbClr val="00D4FF"/>
                </a:solidFill>
                <a:latin typeface="Calibri"/>
              </a:rPr>
              <a:t>MY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7365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EAF1FF"/>
                </a:solidFill>
                <a:latin typeface="Calibri"/>
              </a:rPr>
              <a:t>Entire frontend homepage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02 ·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What I shipped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2560320"/>
            <a:ext cx="7315" cy="3474720"/>
          </a:xfrm>
          <a:prstGeom prst="rect">
            <a:avLst/>
          </a:prstGeom>
          <a:ln>
            <a:noFill/>
          </a:ln>
          <a:effectLst/>
          <a:solidFill>
            <a:srgbClr val="2525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09560" y="2560320"/>
            <a:ext cx="7315" cy="3474720"/>
          </a:xfrm>
          <a:prstGeom prst="rect">
            <a:avLst/>
          </a:prstGeom>
          <a:ln>
            <a:noFill/>
          </a:ln>
          <a:effectLst/>
          <a:solidFill>
            <a:srgbClr val="2525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0" b="1" lang="en-US">
                <a:solidFill>
                  <a:srgbClr val="00D4FF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4526280"/>
            <a:ext cx="1371600" cy="1463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olidFill>
            <a:srgbClr val="00D4FF">
              <a:alpha val="4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 spc="200">
                <a:solidFill>
                  <a:srgbClr val="6E769A"/>
                </a:solidFill>
                <a:latin typeface="Calibri"/>
              </a:rPr>
              <a:t>HOMEPAGE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lang="en-US">
                <a:solidFill>
                  <a:srgbClr val="9AA3C4"/>
                </a:solidFill>
                <a:latin typeface="Calibri"/>
              </a:rPr>
              <a:t>Hero · Marquee · Categories · Why · Stats · Featured · Testimonials · How · 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860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0" b="1" lang="en-US">
                <a:solidFill>
                  <a:srgbClr val="6B3EFF"/>
                </a:solidFill>
                <a:latin typeface="Calibri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526280"/>
            <a:ext cx="1371600" cy="1463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olidFill>
            <a:srgbClr val="6B3EFF">
              <a:alpha val="4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709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 spc="200">
                <a:solidFill>
                  <a:srgbClr val="6E769A"/>
                </a:solidFill>
                <a:latin typeface="Calibri"/>
              </a:rPr>
              <a:t>FILES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0749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lang="en-US">
                <a:solidFill>
                  <a:srgbClr val="9AA3C4"/>
                </a:solidFill>
                <a:latin typeface="Calibri"/>
              </a:rPr>
              <a:t>Index.cshtml · _Layout.cshtml · Privacy · site.css · site.js · NPlogo.png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860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0" b="1" lang="en-US">
                <a:solidFill>
                  <a:srgbClr val="FF4EA8"/>
                </a:solidFill>
                <a:latin typeface="Calibri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4526280"/>
            <a:ext cx="1371600" cy="1463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olidFill>
            <a:srgbClr val="FF4EA8">
              <a:alpha val="4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709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 spc="200">
                <a:solidFill>
                  <a:srgbClr val="6E769A"/>
                </a:solidFill>
                <a:latin typeface="Calibri"/>
              </a:rPr>
              <a:t>BACKEND FILES TOUCHED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749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lang="en-US">
                <a:solidFill>
                  <a:srgbClr val="9AA3C4"/>
                </a:solidFill>
                <a:latin typeface="Calibri"/>
              </a:rPr>
              <a:t>Rosana's models and controllers are untouched. Pure frontend.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03 · HOMEPAGE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Nine sections, top to bottom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011680"/>
            <a:ext cx="73152" cy="43434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50000">
                <a:srgbClr val="6B3EFF"/>
              </a:gs>
              <a:gs pos="100000">
                <a:srgbClr val="FF4EA8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2011680"/>
            <a:ext cx="310896" cy="310896"/>
          </a:xfrm>
          <a:prstGeom prst="ellipse">
            <a:avLst/>
          </a:prstGeom>
          <a:ln>
            <a:noFill/>
          </a:ln>
          <a:solidFill>
            <a:srgbClr val="00D4FF"/>
          </a:solidFill>
          <a:effectLst>
            <a:glow rad="101600">
              <a:srgbClr val="00D4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29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6596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2199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Animated split text, gradient rule, dual call-to-action buttons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2491740"/>
            <a:ext cx="310896" cy="310896"/>
          </a:xfrm>
          <a:prstGeom prst="ellipse">
            <a:avLst/>
          </a:prstGeom>
          <a:ln>
            <a:noFill/>
          </a:ln>
          <a:solidFill>
            <a:srgbClr val="00D4FF"/>
          </a:solidFill>
          <a:effectLst>
            <a:glow rad="101600">
              <a:srgbClr val="00D4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51002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4602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Event marquee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0205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Glowing horizontal scroll of event names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2971800"/>
            <a:ext cx="310896" cy="310896"/>
          </a:xfrm>
          <a:prstGeom prst="ellipse">
            <a:avLst/>
          </a:prstGeom>
          <a:ln>
            <a:noFill/>
          </a:ln>
          <a:solidFill>
            <a:srgbClr val="00D4FF"/>
          </a:solidFill>
          <a:effectLst>
            <a:glow rad="101600">
              <a:srgbClr val="00D4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9008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260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Categories ribbon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8211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Pills with active state, ready for filter wiring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3451860"/>
            <a:ext cx="310896" cy="310896"/>
          </a:xfrm>
          <a:prstGeom prst="ellipse">
            <a:avLst/>
          </a:prstGeom>
          <a:ln>
            <a:noFill/>
          </a:ln>
          <a:solidFill>
            <a:srgbClr val="6B3EFF"/>
          </a:solidFill>
          <a:effectLst>
            <a:glow rad="101600">
              <a:srgbClr val="6B3E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4701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0614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Why Notespack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66217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Three glass cards with 3D tilt and cursor glow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3931920"/>
            <a:ext cx="310896" cy="310896"/>
          </a:xfrm>
          <a:prstGeom prst="ellipse">
            <a:avLst/>
          </a:prstGeom>
          <a:ln>
            <a:noFill/>
          </a:ln>
          <a:solidFill>
            <a:srgbClr val="6B3EFF"/>
          </a:solidFill>
          <a:effectLst>
            <a:glow rad="101600">
              <a:srgbClr val="6B3E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95020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8620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Stat counters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422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Numbers animate from zero when scrolled into view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" y="4411980"/>
            <a:ext cx="310896" cy="310896"/>
          </a:xfrm>
          <a:prstGeom prst="ellipse">
            <a:avLst/>
          </a:prstGeom>
          <a:ln>
            <a:noFill/>
          </a:ln>
          <a:solidFill>
            <a:srgbClr val="6B3EFF"/>
          </a:solidFill>
          <a:effectLst>
            <a:glow rad="101600">
              <a:srgbClr val="6B3E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4302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36626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Featured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62229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Six cards with gradient covers and date badges</a:t>
            </a:r>
          </a:p>
        </p:txBody>
      </p:sp>
      <p:sp>
        <p:nvSpPr>
          <p:cNvPr id="30" name="Oval 29"/>
          <p:cNvSpPr/>
          <p:nvPr/>
        </p:nvSpPr>
        <p:spPr>
          <a:xfrm>
            <a:off x="786384" y="4892040"/>
            <a:ext cx="310896" cy="310896"/>
          </a:xfrm>
          <a:prstGeom prst="ellipse">
            <a:avLst/>
          </a:prstGeom>
          <a:ln>
            <a:noFill/>
          </a:ln>
          <a:solidFill>
            <a:srgbClr val="FF4EA8"/>
          </a:solidFill>
          <a:effectLst>
            <a:glow rad="101600">
              <a:srgbClr val="FF4EA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1032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84632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Testimonials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10235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Student quotes with avatar gradient circles</a:t>
            </a:r>
          </a:p>
        </p:txBody>
      </p:sp>
      <p:sp>
        <p:nvSpPr>
          <p:cNvPr id="34" name="Oval 33"/>
          <p:cNvSpPr/>
          <p:nvPr/>
        </p:nvSpPr>
        <p:spPr>
          <a:xfrm>
            <a:off x="786384" y="5372100"/>
            <a:ext cx="310896" cy="310896"/>
          </a:xfrm>
          <a:prstGeom prst="ellipse">
            <a:avLst/>
          </a:prstGeom>
          <a:ln>
            <a:noFill/>
          </a:ln>
          <a:solidFill>
            <a:srgbClr val="FF4EA8"/>
          </a:solidFill>
          <a:effectLst>
            <a:glow rad="101600">
              <a:srgbClr val="FF4EA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39038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32638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How it 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58241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Three numbered steps from sign-in to attend</a:t>
            </a:r>
          </a:p>
        </p:txBody>
      </p:sp>
      <p:sp>
        <p:nvSpPr>
          <p:cNvPr id="38" name="Oval 37"/>
          <p:cNvSpPr/>
          <p:nvPr/>
        </p:nvSpPr>
        <p:spPr>
          <a:xfrm>
            <a:off x="786384" y="5852160"/>
            <a:ext cx="310896" cy="310896"/>
          </a:xfrm>
          <a:prstGeom prst="ellipse">
            <a:avLst/>
          </a:prstGeom>
          <a:ln>
            <a:noFill/>
          </a:ln>
          <a:solidFill>
            <a:srgbClr val="FF4EA8"/>
          </a:solidFill>
          <a:effectLst>
            <a:glow rad="101600">
              <a:srgbClr val="FF4EA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87044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lang="en-US">
                <a:solidFill>
                  <a:srgbClr val="07071A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80644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lang="en-US">
                <a:solidFill>
                  <a:srgbClr val="EAF1FF"/>
                </a:solidFill>
                <a:latin typeface="Calibri"/>
              </a:rPr>
              <a:t>CTA strip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06247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lang="en-US">
                <a:solidFill>
                  <a:srgbClr val="9AA3C4"/>
                </a:solidFill>
                <a:latin typeface="Calibri"/>
              </a:rPr>
              <a:t>Secondary conversion path before the footer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2240280"/>
            <a:ext cx="3931920" cy="402336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4688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PLUS</a:t>
            </a:r>
          </a:p>
        </p:txBody>
      </p:sp>
      <p:sp>
        <p:nvSpPr>
          <p:cNvPr id="44" name="Oval 43"/>
          <p:cNvSpPr/>
          <p:nvPr/>
        </p:nvSpPr>
        <p:spPr>
          <a:xfrm>
            <a:off x="8046720" y="3026664"/>
            <a:ext cx="109728" cy="109728"/>
          </a:xfrm>
          <a:prstGeom prst="ellipse">
            <a:avLst/>
          </a:prstGeom>
          <a:ln>
            <a:noFill/>
          </a:ln>
          <a:effectLst/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Circular chrome NP navbar logo</a:t>
            </a:r>
          </a:p>
        </p:txBody>
      </p:sp>
      <p:sp>
        <p:nvSpPr>
          <p:cNvPr id="46" name="Oval 45"/>
          <p:cNvSpPr/>
          <p:nvPr/>
        </p:nvSpPr>
        <p:spPr>
          <a:xfrm>
            <a:off x="8046720" y="3986783"/>
            <a:ext cx="109728" cy="109728"/>
          </a:xfrm>
          <a:prstGeom prst="ellipse">
            <a:avLst/>
          </a:prstGeom>
          <a:ln>
            <a:noFill/>
          </a:ln>
          <a:effectLst/>
          <a:solidFill>
            <a:srgbClr val="6B3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9319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Skip-to-content link for keyboard users</a:t>
            </a:r>
          </a:p>
        </p:txBody>
      </p:sp>
      <p:sp>
        <p:nvSpPr>
          <p:cNvPr id="48" name="Oval 47"/>
          <p:cNvSpPr/>
          <p:nvPr/>
        </p:nvSpPr>
        <p:spPr>
          <a:xfrm>
            <a:off x="8046720" y="4946903"/>
            <a:ext cx="109728" cy="109728"/>
          </a:xfrm>
          <a:prstGeom prst="ellipse">
            <a:avLst/>
          </a:prstGeom>
          <a:ln>
            <a:noFill/>
          </a:ln>
          <a:effectLst/>
          <a:solidFill>
            <a:srgbClr val="FF4E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48920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Multi-column footer (Brand · Product · For Students · Company)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9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3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1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9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3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7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1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5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9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3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7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1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5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9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3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7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1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5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9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3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7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1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5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9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3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7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31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35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39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43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47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51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55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59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7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71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7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2139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79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2219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83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87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04 ·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The little touches, in plain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en-US">
                <a:solidFill>
                  <a:srgbClr val="9AA3C4"/>
                </a:solidFill>
                <a:latin typeface="Calibri"/>
              </a:rPr>
              <a:t>Just vanilla JavaScript plus a tiny GSAP cameo for the hero entrance. No heavy libraries.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657600" cy="1874519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423160"/>
            <a:ext cx="384048" cy="384048"/>
          </a:xfrm>
          <a:prstGeom prst="roundRect">
            <a:avLst>
              <a:gd name="adj" fmla="val 28000"/>
            </a:avLst>
          </a:prstGeom>
          <a:ln>
            <a:noFill/>
          </a:ln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8100000" scaled="1"/>
          </a:gradFill>
          <a:effectLst>
            <a:glow rad="76200">
              <a:srgbClr val="00D4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4414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AF1FF"/>
                </a:solidFill>
                <a:latin typeface="Calibri"/>
              </a:rPr>
              <a:t>3D card tilt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Cards lean toward your mouse as you move across them. Subtle, not 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2148840"/>
            <a:ext cx="3657600" cy="1874519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1727" y="2423160"/>
            <a:ext cx="384048" cy="384048"/>
          </a:xfrm>
          <a:prstGeom prst="roundRect">
            <a:avLst>
              <a:gd name="adj" fmla="val 28000"/>
            </a:avLst>
          </a:prstGeom>
          <a:ln>
            <a:noFill/>
          </a:ln>
          <a:gradFill rotWithShape="1">
            <a:gsLst>
              <a:gs pos="0">
                <a:srgbClr val="6B3EFF"/>
              </a:gs>
              <a:gs pos="100000">
                <a:srgbClr val="FF4EA8"/>
              </a:gs>
            </a:gsLst>
            <a:lin ang="8100000" scaled="1"/>
          </a:gradFill>
          <a:effectLst>
            <a:glow rad="76200">
              <a:srgbClr val="FF4EA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24414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AF1FF"/>
                </a:solidFill>
                <a:latin typeface="Calibri"/>
              </a:rPr>
              <a:t>Cursor glow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30175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Each card has a soft cyan light inside that follows your cursor.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2148840"/>
            <a:ext cx="3657600" cy="1874519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0496" y="2423160"/>
            <a:ext cx="384048" cy="384048"/>
          </a:xfrm>
          <a:prstGeom prst="roundRect">
            <a:avLst>
              <a:gd name="adj" fmla="val 28000"/>
            </a:avLst>
          </a:prstGeom>
          <a:ln>
            <a:noFill/>
          </a:ln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8100000" scaled="1"/>
          </a:gradFill>
          <a:effectLst>
            <a:glow rad="76200">
              <a:srgbClr val="00D4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5" y="24414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AF1FF"/>
                </a:solidFill>
                <a:latin typeface="Calibri"/>
              </a:rPr>
              <a:t>Cursor halo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0175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A faint cyan dot trails your mouse everywhere on the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3657600" cy="1874519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59" y="4480559"/>
            <a:ext cx="384048" cy="384048"/>
          </a:xfrm>
          <a:prstGeom prst="roundRect">
            <a:avLst>
              <a:gd name="adj" fmla="val 28000"/>
            </a:avLst>
          </a:prstGeom>
          <a:ln>
            <a:noFill/>
          </a:ln>
          <a:gradFill rotWithShape="1">
            <a:gsLst>
              <a:gs pos="0">
                <a:srgbClr val="6B3EFF"/>
              </a:gs>
              <a:gs pos="100000">
                <a:srgbClr val="FF4EA8"/>
              </a:gs>
            </a:gsLst>
            <a:lin ang="8100000" scaled="1"/>
          </a:gradFill>
          <a:effectLst>
            <a:glow rad="76200">
              <a:srgbClr val="FF4EA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19" y="44988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AF1FF"/>
                </a:solidFill>
                <a:latin typeface="Calibri"/>
              </a:rPr>
              <a:t>Smooth fade-ins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0749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Sections gently fade up as you scroll down. No sudden jumps.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7" y="4206240"/>
            <a:ext cx="3657600" cy="1874519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81727" y="4480559"/>
            <a:ext cx="384048" cy="384048"/>
          </a:xfrm>
          <a:prstGeom prst="roundRect">
            <a:avLst>
              <a:gd name="adj" fmla="val 28000"/>
            </a:avLst>
          </a:prstGeom>
          <a:ln>
            <a:noFill/>
          </a:ln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8100000" scaled="1"/>
          </a:gradFill>
          <a:effectLst>
            <a:glow rad="76200">
              <a:srgbClr val="00D4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6088" y="44988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AF1FF"/>
                </a:solidFill>
                <a:latin typeface="Calibri"/>
              </a:rPr>
              <a:t>Counting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50749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The stat numbers count from zero to their target when you scroll past.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4206240"/>
            <a:ext cx="3657600" cy="1874519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40496" y="4480559"/>
            <a:ext cx="384048" cy="384048"/>
          </a:xfrm>
          <a:prstGeom prst="roundRect">
            <a:avLst>
              <a:gd name="adj" fmla="val 28000"/>
            </a:avLst>
          </a:prstGeom>
          <a:ln>
            <a:noFill/>
          </a:ln>
          <a:gradFill rotWithShape="1">
            <a:gsLst>
              <a:gs pos="0">
                <a:srgbClr val="6B3EFF"/>
              </a:gs>
              <a:gs pos="100000">
                <a:srgbClr val="FF4EA8"/>
              </a:gs>
            </a:gsLst>
            <a:lin ang="8100000" scaled="1"/>
          </a:gradFill>
          <a:effectLst>
            <a:glow rad="76200">
              <a:srgbClr val="FF4EA8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5" y="44988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lang="en-US">
                <a:solidFill>
                  <a:srgbClr val="EAF1FF"/>
                </a:solidFill>
                <a:latin typeface="Calibri"/>
              </a:rPr>
              <a:t>Active pill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50749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en-US">
                <a:solidFill>
                  <a:srgbClr val="9AA3C4"/>
                </a:solidFill>
                <a:latin typeface="Calibri"/>
              </a:rPr>
              <a:t>Clicked category pills fill with cyan to show what's selected.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8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2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FFFFFF"/>
                </a:solidFill>
                <a:latin typeface="Calibri"/>
              </a:rPr>
              <a:t>05 ·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lang="en-US">
                <a:solidFill>
                  <a:srgbClr val="FFFFFF"/>
                </a:solidFill>
                <a:latin typeface="Calibri"/>
              </a:rPr>
              <a:t>a11y means accessibility.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lang="en-US">
                <a:solidFill>
                  <a:srgbClr val="FFFFFF">
                    <a:alpha val="85000"/>
                  </a:srgbClr>
                </a:solidFill>
                <a:latin typeface="Calibri"/>
              </a:rPr>
              <a:t>The 11 stands for the eleven letters between 'a' and 'y'.</a:t>
            </a:r>
          </a:p>
        </p:txBody>
      </p:sp>
      <p:sp>
        <p:nvSpPr>
          <p:cNvPr id="6" name="Oval 5"/>
          <p:cNvSpPr/>
          <p:nvPr/>
        </p:nvSpPr>
        <p:spPr>
          <a:xfrm>
            <a:off x="1770849" y="4297680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27736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FFFFFF"/>
                </a:solidFill>
                <a:latin typeface="Calibri"/>
              </a:rPr>
              <a:t>Blind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27736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lang="en-US">
                <a:solidFill>
                  <a:srgbClr val="FFFFFF">
                    <a:alpha val="82000"/>
                  </a:srgbClr>
                </a:solidFill>
                <a:latin typeface="Calibri"/>
              </a:rPr>
              <a:t>Navigate using screen readers</a:t>
            </a:r>
          </a:p>
        </p:txBody>
      </p:sp>
      <p:sp>
        <p:nvSpPr>
          <p:cNvPr id="9" name="Oval 8"/>
          <p:cNvSpPr/>
          <p:nvPr/>
        </p:nvSpPr>
        <p:spPr>
          <a:xfrm>
            <a:off x="4544453" y="4297680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2243" y="4754880"/>
            <a:ext cx="27736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FFFFFF"/>
                </a:solidFill>
                <a:latin typeface="Calibri"/>
              </a:rPr>
              <a:t>Keyboard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243" y="5074920"/>
            <a:ext cx="27736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lang="en-US">
                <a:solidFill>
                  <a:srgbClr val="FFFFFF">
                    <a:alpha val="82000"/>
                  </a:srgbClr>
                </a:solidFill>
                <a:latin typeface="Calibri"/>
              </a:rPr>
              <a:t>Tab key, arrow keys, no mouse</a:t>
            </a:r>
          </a:p>
        </p:txBody>
      </p:sp>
      <p:sp>
        <p:nvSpPr>
          <p:cNvPr id="12" name="Oval 11"/>
          <p:cNvSpPr/>
          <p:nvPr/>
        </p:nvSpPr>
        <p:spPr>
          <a:xfrm>
            <a:off x="7318057" y="4297680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5847" y="4754880"/>
            <a:ext cx="27736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FFFFFF"/>
                </a:solidFill>
                <a:latin typeface="Calibri"/>
              </a:rPr>
              <a:t>Low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5074920"/>
            <a:ext cx="27736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lang="en-US">
                <a:solidFill>
                  <a:srgbClr val="FFFFFF">
                    <a:alpha val="82000"/>
                  </a:srgbClr>
                </a:solidFill>
                <a:latin typeface="Calibri"/>
              </a:rPr>
              <a:t>Need high contrast and big text</a:t>
            </a:r>
          </a:p>
        </p:txBody>
      </p:sp>
      <p:sp>
        <p:nvSpPr>
          <p:cNvPr id="15" name="Oval 14"/>
          <p:cNvSpPr/>
          <p:nvPr/>
        </p:nvSpPr>
        <p:spPr>
          <a:xfrm>
            <a:off x="10091661" y="4297680"/>
            <a:ext cx="329184" cy="329184"/>
          </a:xfrm>
          <a:prstGeom prst="ellipse">
            <a:avLst/>
          </a:prstGeom>
          <a:ln w="15875">
            <a:solidFill>
              <a:srgbClr val="FFFFFF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451" y="4754880"/>
            <a:ext cx="27736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FFFFFF"/>
                </a:solidFill>
                <a:latin typeface="Calibri"/>
              </a:rPr>
              <a:t>Color blind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451" y="5074920"/>
            <a:ext cx="27736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lang="en-US">
                <a:solidFill>
                  <a:srgbClr val="FFFFFF">
                    <a:alpha val="82000"/>
                  </a:srgbClr>
                </a:solidFill>
                <a:latin typeface="Calibri"/>
              </a:rPr>
              <a:t>Cannot rely on color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Our homepage works for all of them.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859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59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859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6B3EFF"/>
              </a:gs>
              <a:gs pos="100000">
                <a:srgbClr val="FF4EA8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FFFFFF"/>
                </a:solidFill>
                <a:latin typeface="Calibri"/>
              </a:rPr>
              <a:t>06 ·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lang="en-US">
                <a:solidFill>
                  <a:srgbClr val="FFFFFF"/>
                </a:solidFill>
                <a:latin typeface="Calibri"/>
              </a:rPr>
              <a:t>WCAG 2.1 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lang="en-US">
                <a:solidFill>
                  <a:srgbClr val="FFFFFF">
                    <a:alpha val="85000"/>
                  </a:srgbClr>
                </a:solidFill>
                <a:latin typeface="Calibri"/>
              </a:rPr>
              <a:t>Web Content Accessibility Guidelines, version 2.1, level AA.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11880"/>
            <a:ext cx="7589520" cy="2331720"/>
          </a:xfrm>
          <a:prstGeom prst="roundRect">
            <a:avLst>
              <a:gd name="adj" fmla="val 5000"/>
            </a:avLst>
          </a:prstGeom>
          <a:ln w="12700">
            <a:solidFill>
              <a:srgbClr val="FFFFFF">
                <a:alpha val="30000"/>
              </a:srgbClr>
            </a:solidFill>
          </a:ln>
          <a:effectLst/>
          <a:solidFill>
            <a:srgbClr val="FFFFFF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38862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20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420624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en-US">
                <a:solidFill>
                  <a:srgbClr val="FFFFFF">
                    <a:alpha val="92000"/>
                  </a:srgbClr>
                </a:solidFill>
                <a:latin typeface="Calibri"/>
              </a:rPr>
              <a:t>The global rulebook for web accessibility. Three levels: A (minimum), AA (industry standard), AAA (strictest). AA is what BYU, government sites, and most companies require.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8862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200">
                <a:solidFill>
                  <a:srgbClr val="FFFFFF"/>
                </a:solidFill>
                <a:latin typeface="Calibri"/>
              </a:rPr>
              <a:t>WHAT WE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22452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Text contrast 4.5 to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608576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Keyboard navigation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99262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Focus rings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37667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FFFFFF">
                    <a:alpha val="95000"/>
                  </a:srgbClr>
                </a:solidFill>
                <a:latin typeface="Calibri"/>
              </a:rPr>
              <a:t>Reduced motion respected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Calibri"/>
              </a:rPr>
              <a:t>The homepage passes.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07 · RESPONSIVE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Works on every screen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en-US">
                <a:solidFill>
                  <a:srgbClr val="9AA3C4"/>
                </a:solidFill>
                <a:latin typeface="Calibri"/>
              </a:rPr>
              <a:t>Four breakpoints. The layout adapts so the page never feels cramped or stretched.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657600" cy="2240280"/>
          </a:xfrm>
          <a:prstGeom prst="roundRect">
            <a:avLst>
              <a:gd name="adj" fmla="val 8000"/>
            </a:avLst>
          </a:prstGeom>
          <a:ln w="19050">
            <a:solidFill>
              <a:srgbClr val="00D4FF"/>
            </a:solidFill>
          </a:ln>
          <a:solidFill>
            <a:srgbClr val="141432"/>
          </a:solidFill>
          <a:effectLst>
            <a:glow rad="101600">
              <a:srgbClr val="00D4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2587752"/>
            <a:ext cx="33284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00D4FF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2880360"/>
            <a:ext cx="33284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00D4FF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3172968"/>
            <a:ext cx="33284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00D4FF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937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EAF1FF"/>
                </a:solidFill>
                <a:latin typeface="Calibri"/>
              </a:rPr>
              <a:t>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239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>
                <a:solidFill>
                  <a:srgbClr val="00D4FF"/>
                </a:solidFill>
                <a:latin typeface="Calibri"/>
              </a:rPr>
              <a:t>≥ 900px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53212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Full 4-column footer, full nav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423160"/>
            <a:ext cx="2377440" cy="2057400"/>
          </a:xfrm>
          <a:prstGeom prst="roundRect">
            <a:avLst>
              <a:gd name="adj" fmla="val 8000"/>
            </a:avLst>
          </a:prstGeom>
          <a:ln w="19050">
            <a:solidFill>
              <a:srgbClr val="6B3EFF"/>
            </a:solidFill>
          </a:ln>
          <a:solidFill>
            <a:srgbClr val="141432"/>
          </a:solidFill>
          <a:effectLst>
            <a:glow rad="101600">
              <a:srgbClr val="6B3E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56631" y="2679191"/>
            <a:ext cx="204825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6B3EFF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56631" y="2971799"/>
            <a:ext cx="204825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6B3EFF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6631" y="3264407"/>
            <a:ext cx="204825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6B3EFF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4937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EAF1FF"/>
                </a:solidFill>
                <a:latin typeface="Calibri"/>
              </a:rPr>
              <a:t>Tablet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5239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>
                <a:solidFill>
                  <a:srgbClr val="00D4FF"/>
                </a:solidFill>
                <a:latin typeface="Calibri"/>
              </a:rPr>
              <a:t>720-900px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553212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Two-column footer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331720"/>
            <a:ext cx="1371600" cy="2331720"/>
          </a:xfrm>
          <a:prstGeom prst="roundRect">
            <a:avLst>
              <a:gd name="adj" fmla="val 8000"/>
            </a:avLst>
          </a:prstGeom>
          <a:ln w="19050">
            <a:solidFill>
              <a:srgbClr val="FF4EA8"/>
            </a:solidFill>
          </a:ln>
          <a:solidFill>
            <a:srgbClr val="141432"/>
          </a:solidFill>
          <a:effectLst>
            <a:glow rad="101600">
              <a:srgbClr val="FF4EA8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99831" y="2587752"/>
            <a:ext cx="10424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FF4EA8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9831" y="2880360"/>
            <a:ext cx="10424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FF4EA8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99831" y="3172968"/>
            <a:ext cx="10424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FF4EA8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937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EAF1FF"/>
                </a:solidFill>
                <a:latin typeface="Calibri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239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>
                <a:solidFill>
                  <a:srgbClr val="00D4FF"/>
                </a:solidFill>
                <a:latin typeface="Calibri"/>
              </a:rPr>
              <a:t>480-720px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53212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Stacked layout, condensed nav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560320"/>
            <a:ext cx="914400" cy="1874519"/>
          </a:xfrm>
          <a:prstGeom prst="roundRect">
            <a:avLst>
              <a:gd name="adj" fmla="val 8000"/>
            </a:avLst>
          </a:prstGeom>
          <a:ln w="19050">
            <a:solidFill>
              <a:srgbClr val="FF4EA8"/>
            </a:solidFill>
          </a:ln>
          <a:solidFill>
            <a:srgbClr val="141432"/>
          </a:solidFill>
          <a:effectLst>
            <a:glow rad="101600">
              <a:srgbClr val="FF4EA8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57232" y="2816352"/>
            <a:ext cx="5852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FF4EA8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57232" y="3108960"/>
            <a:ext cx="5852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FF4EA8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57232" y="3401568"/>
            <a:ext cx="585216" cy="146304"/>
          </a:xfrm>
          <a:prstGeom prst="roundRect">
            <a:avLst>
              <a:gd name="adj" fmla="val 40000"/>
            </a:avLst>
          </a:prstGeom>
          <a:ln>
            <a:noFill/>
          </a:ln>
          <a:effectLst/>
          <a:solidFill>
            <a:srgbClr val="FF4EA8">
              <a:alpha val="38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937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lang="en-US">
                <a:solidFill>
                  <a:srgbClr val="EAF1FF"/>
                </a:solidFill>
                <a:latin typeface="Calibri"/>
              </a:rPr>
              <a:t>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239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lang="en-US">
                <a:solidFill>
                  <a:srgbClr val="00D4FF"/>
                </a:solidFill>
                <a:latin typeface="Calibri"/>
              </a:rPr>
              <a:t>&lt; 480px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53212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Logo only, wordmark hidden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59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08 · PROPOSAL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What was asked, what I shipped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657600" cy="402336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3657600" cy="228600"/>
          </a:xfrm>
          <a:prstGeom prst="rect">
            <a:avLst/>
          </a:prstGeom>
          <a:ln>
            <a:noFill/>
          </a:ln>
          <a:effectLst/>
          <a:solidFill>
            <a:srgbClr val="00D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lang="en-US" spc="150">
                <a:solidFill>
                  <a:srgbClr val="07071A"/>
                </a:solidFill>
                <a:latin typeface="Calibri"/>
              </a:rPr>
              <a:t>DONE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00D4FF"/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Browse events (Featured Events 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6674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00D4FF"/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See categories (ribbon)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27024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00D4FF"/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Mobile responsive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87375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00D4FF"/>
                </a:solidFill>
                <a:latin typeface="Calibri"/>
              </a:rPr>
              <a:t>✓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Modern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94560"/>
            <a:ext cx="3657600" cy="402336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194560"/>
            <a:ext cx="365760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6B3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423160"/>
            <a:ext cx="3657600" cy="228600"/>
          </a:xfrm>
          <a:prstGeom prst="rect">
            <a:avLst/>
          </a:prstGeom>
          <a:ln>
            <a:noFill/>
          </a:ln>
          <a:effectLst/>
          <a:solidFill>
            <a:srgbClr val="6B3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26771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lang="en-US" spc="150">
                <a:solidFill>
                  <a:srgbClr val="07071A"/>
                </a:solidFill>
                <a:latin typeface="Calibri"/>
              </a:rPr>
              <a:t>UI READY ·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6B3EFF"/>
                </a:solidFill>
                <a:latin typeface="Calibri"/>
              </a:rPr>
              <a:t>•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Filter by category. Pills wired to click, waiting on the filter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94560"/>
            <a:ext cx="3657600" cy="402336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2194560"/>
            <a:ext cx="365760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FF4E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423160"/>
            <a:ext cx="3657600" cy="228600"/>
          </a:xfrm>
          <a:prstGeom prst="rect">
            <a:avLst/>
          </a:prstGeom>
          <a:ln>
            <a:noFill/>
          </a:ln>
          <a:effectLst/>
          <a:solidFill>
            <a:srgbClr val="FF4EA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26771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lang="en-US" spc="150">
                <a:solidFill>
                  <a:srgbClr val="07071A"/>
                </a:solidFill>
                <a:latin typeface="Calibri"/>
              </a:rPr>
              <a:t>PENDING ·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FF4EA8"/>
                </a:solidFill>
                <a:latin typeface="Calibri"/>
              </a:rPr>
              <a:t>○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Sign in / Register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8386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FF4EA8"/>
                </a:solidFill>
                <a:latin typeface="Calibri"/>
              </a:rPr>
              <a:t>○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Create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8736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FF4EA8"/>
                </a:solidFill>
                <a:latin typeface="Calibri"/>
              </a:rPr>
              <a:t>○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Edit / Delete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9087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FF4EA8"/>
                </a:solidFill>
                <a:latin typeface="Calibri"/>
              </a:rPr>
              <a:t>○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Share event with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29437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lang="en-US">
                <a:solidFill>
                  <a:srgbClr val="FF4EA8"/>
                </a:solidFill>
                <a:latin typeface="Calibri"/>
              </a:rPr>
              <a:t>○  </a:t>
            </a:r>
            <a:r>
              <a:rPr sz="1300" b="0" lang="en-US">
                <a:solidFill>
                  <a:srgbClr val="EAF1FF"/>
                </a:solidFill>
                <a:latin typeface="Calibri"/>
              </a:rPr>
              <a:t>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9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3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09 · CHANGE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The six files I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en-US">
                <a:solidFill>
                  <a:srgbClr val="9AA3C4"/>
                </a:solidFill>
                <a:latin typeface="Calibri"/>
              </a:rPr>
              <a:t>Pure frontend. Rosana's backend scaffold is untouched.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106424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141432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864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AF1FF"/>
                </a:solidFill>
                <a:latin typeface="Calibri"/>
              </a:rPr>
              <a:t>Views/Home/Index.cshtml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500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en-US">
                <a:solidFill>
                  <a:srgbClr val="9AA3C4"/>
                </a:solidFill>
                <a:latin typeface="Calibri"/>
              </a:rPr>
              <a:t>9 homepage sections, all the magic happens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106424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141432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54864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AF1FF"/>
                </a:solidFill>
                <a:latin typeface="Calibri"/>
              </a:rPr>
              <a:t>Views/Shared/_Layout.cshtml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16936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en-US">
                <a:solidFill>
                  <a:srgbClr val="9AA3C4"/>
                </a:solidFill>
                <a:latin typeface="Calibri"/>
              </a:rPr>
              <a:t>Circular navbar logo, 4-column footer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74136"/>
            <a:ext cx="1106424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141432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374136"/>
            <a:ext cx="54864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AF1FF"/>
                </a:solidFill>
                <a:latin typeface="Calibri"/>
              </a:rPr>
              <a:t>Views/Home/Privacy.cshtml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8386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en-US">
                <a:solidFill>
                  <a:srgbClr val="9AA3C4"/>
                </a:solidFill>
                <a:latin typeface="Calibri"/>
              </a:rPr>
              <a:t>Themed privacy page to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41064"/>
            <a:ext cx="1106424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141432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941064"/>
            <a:ext cx="54864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32504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AF1FF"/>
                </a:solidFill>
                <a:latin typeface="Calibri"/>
              </a:rPr>
              <a:t>wwwroot/css/site.css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507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en-US">
                <a:solidFill>
                  <a:srgbClr val="9AA3C4"/>
                </a:solidFill>
                <a:latin typeface="Calibri"/>
              </a:rPr>
              <a:t>Full design system, breakpoints, 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6424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141432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507992"/>
            <a:ext cx="54864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9943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AF1FF"/>
                </a:solidFill>
                <a:latin typeface="Calibri"/>
              </a:rPr>
              <a:t>wwwroot/js/site.js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6177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en-US">
                <a:solidFill>
                  <a:srgbClr val="9AA3C4"/>
                </a:solidFill>
                <a:latin typeface="Calibri"/>
              </a:rPr>
              <a:t>Reveals, counters, cursor glow, 3D tilt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11064240" cy="45720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solidFill>
            <a:srgbClr val="141432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54864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100000">
                <a:srgbClr val="6B3E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6636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lang="en-US">
                <a:solidFill>
                  <a:srgbClr val="EAF1FF"/>
                </a:solidFill>
                <a:latin typeface="Calibri"/>
              </a:rPr>
              <a:t>wwwroot/img/NPlogo.png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18464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en-US">
                <a:solidFill>
                  <a:srgbClr val="9AA3C4"/>
                </a:solidFill>
                <a:latin typeface="Calibri"/>
              </a:rPr>
              <a:t>Chrome NP brand asset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5897880"/>
            <a:ext cx="3931920" cy="502920"/>
          </a:xfrm>
          <a:prstGeom prst="roundRect">
            <a:avLst>
              <a:gd name="adj" fmla="val 50000"/>
            </a:avLst>
          </a:prstGeom>
          <a:ln w="12700">
            <a:solidFill>
              <a:srgbClr val="00D4FF"/>
            </a:solidFill>
          </a:ln>
          <a:effectLst/>
          <a:solidFill>
            <a:srgbClr val="00D4FF">
              <a:alpha val="1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600760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lang="en-US">
                <a:solidFill>
                  <a:srgbClr val="00D4FF"/>
                </a:solidFill>
                <a:latin typeface="Calibri"/>
              </a:rPr>
              <a:t>Backend untouched · Zero database changes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4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6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0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4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8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2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6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4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8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0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4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8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2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6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0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4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8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2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solidFill>
            <a:srgbClr val="0707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lang="en-US" spc="300">
                <a:solidFill>
                  <a:srgbClr val="00D4FF"/>
                </a:solidFill>
                <a:latin typeface="Calibri"/>
              </a:rPr>
              <a:t>10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lang="en-US">
                <a:solidFill>
                  <a:srgbClr val="EAF1FF"/>
                </a:solidFill>
                <a:latin typeface="Calibri"/>
              </a:rPr>
              <a:t>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en-US">
                <a:solidFill>
                  <a:srgbClr val="9AA3C4"/>
                </a:solidFill>
                <a:latin typeface="Calibri"/>
              </a:rPr>
              <a:t>Eight follow-up pull requests the team will tackle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Login + Register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Marco and Rebeca, themed forms wired to Melissa's auth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19456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3957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6B3E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971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Events browse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3832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Full list with the search and filter UI already drafted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219456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3" y="23957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FF4EA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2971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Event details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3" y="33832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Single event view with the share modal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219456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239572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00D4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9176" y="2971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Create event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33832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Posted to Joseph's EventsController.Create 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407407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6B3E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98347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Edit event 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394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Owners only, validated on the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420624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2" y="4407407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FF4EA8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498347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Delete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5394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Confirm modal with backend cascade handled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3" y="420624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3" y="4407407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00D4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498347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My events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5394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Authorized view, lists what the user created or saved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4206240"/>
            <a:ext cx="2743200" cy="1828800"/>
          </a:xfrm>
          <a:prstGeom prst="roundRect">
            <a:avLst>
              <a:gd name="adj" fmla="val 6000"/>
            </a:avLst>
          </a:prstGeom>
          <a:ln w="9525">
            <a:solidFill>
              <a:srgbClr val="252548"/>
            </a:solidFill>
          </a:ln>
          <a:solidFill>
            <a:srgbClr val="141432"/>
          </a:solidFill>
          <a:effectLst>
            <a:outerShdw blurRad="228600" dist="889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9176" y="4407407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lang="en-US">
                <a:solidFill>
                  <a:srgbClr val="6B3E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498347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en-US">
                <a:solidFill>
                  <a:srgbClr val="EAF1FF"/>
                </a:solidFill>
                <a:latin typeface="Calibri"/>
              </a:rPr>
              <a:t>Share modal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9176" y="539495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lang="en-US">
                <a:solidFill>
                  <a:srgbClr val="9AA3C4"/>
                </a:solidFill>
                <a:latin typeface="Calibri"/>
              </a:rPr>
              <a:t>Access code copy-to-clipboard built on Melissa's share logic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92240"/>
            <a:ext cx="11094415" cy="10972"/>
          </a:xfrm>
          <a:prstGeom prst="rect">
            <a:avLst/>
          </a:prstGeom>
          <a:ln>
            <a:noFill/>
          </a:ln>
          <a:effectLst/>
          <a:solidFill>
            <a:srgbClr val="00D4FF">
              <a:alpha val="5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220">
                <a:solidFill>
                  <a:srgbClr val="6E769A"/>
                </a:solidFill>
                <a:latin typeface="Calibri"/>
              </a:rPr>
              <a:t>NOTESPACK · FRONTEND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>
                <a:solidFill>
                  <a:srgbClr val="6E769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r"/>
      </p:transition>
    </mc:Choice>
    <mc:Fallback>
      <p:transition spd="med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5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6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7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9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0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1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3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36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40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44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00D4FF"/>
              </a:gs>
              <a:gs pos="55000">
                <a:srgbClr val="6B3EFF"/>
              </a:gs>
              <a:gs pos="100000">
                <a:srgbClr val="FF4EA8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00" b="1" lang="en-US">
                <a:solidFill>
                  <a:srgbClr val="FFFFFF"/>
                </a:solidFill>
                <a:latin typeface="Calibri"/>
              </a:rPr>
              <a:t>Frontend is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118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lang="en-US">
                <a:solidFill>
                  <a:srgbClr val="FFFFFF">
                    <a:alpha val="92000"/>
                  </a:srgbClr>
                </a:solidFill>
                <a:latin typeface="Calibri"/>
              </a:rPr>
              <a:t>Backend, take it from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262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lang="en-US">
                <a:solidFill>
                  <a:srgbClr val="FFFFFF">
                    <a:alpha val="78000"/>
                  </a:srgbClr>
                </a:solidFill>
                <a:latin typeface="Calibri"/>
              </a:rPr>
              <a:t>Pull the branch. Run it locally. Drop comments on the PR. Questions go to Marco.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lang="en-US" spc="300">
                <a:solidFill>
                  <a:srgbClr val="FFFFFF">
                    <a:alpha val="72000"/>
                  </a:srgbClr>
                </a:solidFill>
                <a:latin typeface="Calibri"/>
              </a:rPr>
              <a:t>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lang="en-US">
                <a:solidFill>
                  <a:srgbClr val="FFFFFF"/>
                </a:solidFill>
                <a:latin typeface="Calibri"/>
              </a:rPr>
              <a:t>marco/frontend-design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61722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lang="en-US" spc="300">
                <a:solidFill>
                  <a:srgbClr val="FFFFFF">
                    <a:alpha val="72000"/>
                  </a:srgbClr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lang="en-US">
                <a:solidFill>
                  <a:srgbClr val="FFFFFF"/>
                </a:solidFill>
                <a:latin typeface="Calibri"/>
              </a:rPr>
              <a:t>The Syntax Errors · CSE 325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14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22 L 0 0" pathEditMode="relative" rAng="0" ptsTypes="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  <p:nextCondLst>
                      <p:cond evt="onNext" delay="0">
                        <p:tgtEl>
                          <p:sldTgt/>
                        </p:tgtEl>
                      </p:cond>
                    </p:nextCondLst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